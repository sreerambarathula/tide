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  <p:sldId id="261" r:id="rId5"/>
    <p:sldId id="260" r:id="rId6"/>
  </p:sldIdLst>
  <p:sldSz cx="9601200" cy="5400675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FE8A"/>
    <a:srgbClr val="E6FE6E"/>
    <a:srgbClr val="E7DF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32" d="100"/>
          <a:sy n="132" d="100"/>
        </p:scale>
        <p:origin x="8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150" y="883861"/>
            <a:ext cx="7200900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2836605"/>
            <a:ext cx="7200900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09CBA-B56B-413D-AADC-2E908D664F4B}" type="datetimeFigureOut">
              <a:rPr lang="en-SG" smtClean="0"/>
              <a:t>7/9/2026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C69B2-CBA2-4F2C-8E0F-12A8DC8FA5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64950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09CBA-B56B-413D-AADC-2E908D664F4B}" type="datetimeFigureOut">
              <a:rPr lang="en-SG" smtClean="0"/>
              <a:t>7/9/2026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C69B2-CBA2-4F2C-8E0F-12A8DC8FA5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9582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1346419"/>
            <a:ext cx="8281035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3614203"/>
            <a:ext cx="8281035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82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09CBA-B56B-413D-AADC-2E908D664F4B}" type="datetimeFigureOut">
              <a:rPr lang="en-SG" smtClean="0"/>
              <a:t>7/9/2026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C69B2-CBA2-4F2C-8E0F-12A8DC8FA5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62827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1437680"/>
            <a:ext cx="4080510" cy="34266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1437680"/>
            <a:ext cx="4080510" cy="34266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09CBA-B56B-413D-AADC-2E908D664F4B}" type="datetimeFigureOut">
              <a:rPr lang="en-SG" smtClean="0"/>
              <a:t>7/9/2026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C69B2-CBA2-4F2C-8E0F-12A8DC8FA5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54200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287536"/>
            <a:ext cx="8281035" cy="10438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1323916"/>
            <a:ext cx="4061757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1972747"/>
            <a:ext cx="4061757" cy="290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7" y="1323916"/>
            <a:ext cx="4081761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7" y="1972747"/>
            <a:ext cx="4081761" cy="290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09CBA-B56B-413D-AADC-2E908D664F4B}" type="datetimeFigureOut">
              <a:rPr lang="en-SG" smtClean="0"/>
              <a:t>7/9/2026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C69B2-CBA2-4F2C-8E0F-12A8DC8FA5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21703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09CBA-B56B-413D-AADC-2E908D664F4B}" type="datetimeFigureOut">
              <a:rPr lang="en-SG" smtClean="0"/>
              <a:t>7/9/2026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C69B2-CBA2-4F2C-8E0F-12A8DC8FA5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32819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09CBA-B56B-413D-AADC-2E908D664F4B}" type="datetimeFigureOut">
              <a:rPr lang="en-SG" smtClean="0"/>
              <a:t>7/9/2026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C69B2-CBA2-4F2C-8E0F-12A8DC8FA5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06351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360045"/>
            <a:ext cx="3096637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777597"/>
            <a:ext cx="4860608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1620202"/>
            <a:ext cx="3096637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09CBA-B56B-413D-AADC-2E908D664F4B}" type="datetimeFigureOut">
              <a:rPr lang="en-SG" smtClean="0"/>
              <a:t>7/9/2026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C69B2-CBA2-4F2C-8E0F-12A8DC8FA5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23641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360045"/>
            <a:ext cx="3096637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777597"/>
            <a:ext cx="4860608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1620202"/>
            <a:ext cx="3096637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09CBA-B56B-413D-AADC-2E908D664F4B}" type="datetimeFigureOut">
              <a:rPr lang="en-SG" smtClean="0"/>
              <a:t>7/9/2026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C69B2-CBA2-4F2C-8E0F-12A8DC8FA5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58889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09CBA-B56B-413D-AADC-2E908D664F4B}" type="datetimeFigureOut">
              <a:rPr lang="en-SG" smtClean="0"/>
              <a:t>7/9/2026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C69B2-CBA2-4F2C-8E0F-12A8DC8FA5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27253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287536"/>
            <a:ext cx="2070259" cy="457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287536"/>
            <a:ext cx="6090761" cy="457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09CBA-B56B-413D-AADC-2E908D664F4B}" type="datetimeFigureOut">
              <a:rPr lang="en-SG" smtClean="0"/>
              <a:t>7/9/2026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C69B2-CBA2-4F2C-8E0F-12A8DC8FA5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61811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287536"/>
            <a:ext cx="8281035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1437680"/>
            <a:ext cx="8281035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5005626"/>
            <a:ext cx="216027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A09CBA-B56B-413D-AADC-2E908D664F4B}" type="datetimeFigureOut">
              <a:rPr lang="en-SG" smtClean="0"/>
              <a:t>7/9/2026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5005626"/>
            <a:ext cx="324040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5005626"/>
            <a:ext cx="216027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6C69B2-CBA2-4F2C-8E0F-12A8DC8FA5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2350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EC886-C434-3689-E60E-3A29A31B9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559" y="2226148"/>
            <a:ext cx="4658082" cy="587183"/>
          </a:xfrm>
        </p:spPr>
        <p:txBody>
          <a:bodyPr/>
          <a:lstStyle/>
          <a:p>
            <a:pPr algn="ctr"/>
            <a:r>
              <a:rPr lang="en-SG" dirty="0"/>
              <a:t>TIDE Manuscript Figures</a:t>
            </a:r>
          </a:p>
        </p:txBody>
      </p:sp>
    </p:spTree>
    <p:extLst>
      <p:ext uri="{BB962C8B-B14F-4D97-AF65-F5344CB8AC3E}">
        <p14:creationId xmlns:p14="http://schemas.microsoft.com/office/powerpoint/2010/main" val="3956170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198915-FD73-73E5-72A8-9C456137505C}"/>
              </a:ext>
            </a:extLst>
          </p:cNvPr>
          <p:cNvSpPr txBox="1"/>
          <p:nvPr/>
        </p:nvSpPr>
        <p:spPr>
          <a:xfrm>
            <a:off x="8260080" y="0"/>
            <a:ext cx="1341120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200" b="1" dirty="0"/>
              <a:t>Fig – 1 – Panel (a)</a:t>
            </a:r>
          </a:p>
        </p:txBody>
      </p: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7C8481AE-AAD4-5831-CA53-8DD00DF6EC20}"/>
              </a:ext>
            </a:extLst>
          </p:cNvPr>
          <p:cNvGrpSpPr/>
          <p:nvPr/>
        </p:nvGrpSpPr>
        <p:grpSpPr>
          <a:xfrm>
            <a:off x="1627871" y="916073"/>
            <a:ext cx="4377054" cy="3065607"/>
            <a:chOff x="941118" y="1150794"/>
            <a:chExt cx="4377054" cy="3065607"/>
          </a:xfrm>
        </p:grpSpPr>
        <p:sp>
          <p:nvSpPr>
            <p:cNvPr id="279" name="Flowchart: Process 278">
              <a:extLst>
                <a:ext uri="{FF2B5EF4-FFF2-40B4-BE49-F238E27FC236}">
                  <a16:creationId xmlns:a16="http://schemas.microsoft.com/office/drawing/2014/main" id="{CA48F24E-BB91-49A0-388A-726AF310CC8B}"/>
                </a:ext>
              </a:extLst>
            </p:cNvPr>
            <p:cNvSpPr/>
            <p:nvPr/>
          </p:nvSpPr>
          <p:spPr>
            <a:xfrm>
              <a:off x="2946188" y="2691391"/>
              <a:ext cx="2059228" cy="1504815"/>
            </a:xfrm>
            <a:prstGeom prst="flowChartProcess">
              <a:avLst/>
            </a:prstGeom>
            <a:solidFill>
              <a:srgbClr val="EBFE8A"/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81" name="Flowchart: Process 280">
              <a:extLst>
                <a:ext uri="{FF2B5EF4-FFF2-40B4-BE49-F238E27FC236}">
                  <a16:creationId xmlns:a16="http://schemas.microsoft.com/office/drawing/2014/main" id="{FFA08BE6-7FF1-726F-369B-ACE6DC1D79CD}"/>
                </a:ext>
              </a:extLst>
            </p:cNvPr>
            <p:cNvSpPr/>
            <p:nvPr/>
          </p:nvSpPr>
          <p:spPr>
            <a:xfrm>
              <a:off x="4996250" y="2688804"/>
              <a:ext cx="321922" cy="1504815"/>
            </a:xfrm>
            <a:prstGeom prst="flowChartProcess">
              <a:avLst/>
            </a:prstGeom>
            <a:solidFill>
              <a:srgbClr val="EBFE8A"/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2B038CF1-DAF2-C2C6-7223-AF1297448866}"/>
                </a:ext>
              </a:extLst>
            </p:cNvPr>
            <p:cNvSpPr txBox="1"/>
            <p:nvPr/>
          </p:nvSpPr>
          <p:spPr>
            <a:xfrm rot="16200000">
              <a:off x="4391161" y="3330717"/>
              <a:ext cx="150948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900" b="1" dirty="0"/>
                <a:t>Dynamic DWO Instability</a:t>
              </a:r>
            </a:p>
          </p:txBody>
        </p:sp>
        <p:sp>
          <p:nvSpPr>
            <p:cNvPr id="273" name="Flowchart: Process 272">
              <a:extLst>
                <a:ext uri="{FF2B5EF4-FFF2-40B4-BE49-F238E27FC236}">
                  <a16:creationId xmlns:a16="http://schemas.microsoft.com/office/drawing/2014/main" id="{2A550619-8420-1D23-06A6-A1126EACD65C}"/>
                </a:ext>
              </a:extLst>
            </p:cNvPr>
            <p:cNvSpPr/>
            <p:nvPr/>
          </p:nvSpPr>
          <p:spPr>
            <a:xfrm>
              <a:off x="2946188" y="1197428"/>
              <a:ext cx="2059228" cy="1504815"/>
            </a:xfrm>
            <a:prstGeom prst="flowChartProcess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67" name="Flowchart: Process 266">
              <a:extLst>
                <a:ext uri="{FF2B5EF4-FFF2-40B4-BE49-F238E27FC236}">
                  <a16:creationId xmlns:a16="http://schemas.microsoft.com/office/drawing/2014/main" id="{0A899FCC-F8CB-38BE-C157-7E0B9833D844}"/>
                </a:ext>
              </a:extLst>
            </p:cNvPr>
            <p:cNvSpPr/>
            <p:nvPr/>
          </p:nvSpPr>
          <p:spPr>
            <a:xfrm>
              <a:off x="1310595" y="1197428"/>
              <a:ext cx="1636321" cy="3018971"/>
            </a:xfrm>
            <a:prstGeom prst="flowChartProcess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B562FB37-C254-52DA-B6E4-16B15489A656}"/>
                </a:ext>
              </a:extLst>
            </p:cNvPr>
            <p:cNvSpPr/>
            <p:nvPr/>
          </p:nvSpPr>
          <p:spPr>
            <a:xfrm>
              <a:off x="4339732" y="3414867"/>
              <a:ext cx="342903" cy="19313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2327AB60-CCD9-90C3-6A0E-AA08E272DCE0}"/>
                </a:ext>
              </a:extLst>
            </p:cNvPr>
            <p:cNvSpPr/>
            <p:nvPr/>
          </p:nvSpPr>
          <p:spPr>
            <a:xfrm>
              <a:off x="4342618" y="3058989"/>
              <a:ext cx="342903" cy="19313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8F61F49F-EC84-FB9E-77EC-01C194A4A515}"/>
                </a:ext>
              </a:extLst>
            </p:cNvPr>
            <p:cNvSpPr/>
            <p:nvPr/>
          </p:nvSpPr>
          <p:spPr>
            <a:xfrm>
              <a:off x="4342618" y="3249488"/>
              <a:ext cx="342903" cy="17579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C8799732-CDF3-5974-3729-B04E3F8699C9}"/>
                </a:ext>
              </a:extLst>
            </p:cNvPr>
            <p:cNvSpPr/>
            <p:nvPr/>
          </p:nvSpPr>
          <p:spPr>
            <a:xfrm>
              <a:off x="4339227" y="3608675"/>
              <a:ext cx="342903" cy="193135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D86B4F39-88A2-60EF-0C6A-9FB02F5681D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160720" y="2768725"/>
              <a:ext cx="718180" cy="1368000"/>
              <a:chOff x="2526597" y="1217946"/>
              <a:chExt cx="1504746" cy="2866263"/>
            </a:xfrm>
          </p:grpSpPr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80CE2B8E-0E00-4446-36D4-80876DBF4530}"/>
                  </a:ext>
                </a:extLst>
              </p:cNvPr>
              <p:cNvSpPr/>
              <p:nvPr/>
            </p:nvSpPr>
            <p:spPr>
              <a:xfrm>
                <a:off x="2906232" y="1570216"/>
                <a:ext cx="718458" cy="255357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0CBA1E93-0760-E620-01D4-F44EBAA90492}"/>
                  </a:ext>
                </a:extLst>
              </p:cNvPr>
              <p:cNvSpPr/>
              <p:nvPr/>
            </p:nvSpPr>
            <p:spPr>
              <a:xfrm>
                <a:off x="2543375" y="1227193"/>
                <a:ext cx="1487968" cy="34480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10025E29-8743-A61F-28ED-A2DE102DF51C}"/>
                  </a:ext>
                </a:extLst>
              </p:cNvPr>
              <p:cNvSpPr/>
              <p:nvPr/>
            </p:nvSpPr>
            <p:spPr>
              <a:xfrm>
                <a:off x="2526597" y="3724209"/>
                <a:ext cx="1479918" cy="360000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ABE70745-A406-1C51-4EEC-8C9506B5BF6F}"/>
                  </a:ext>
                </a:extLst>
              </p:cNvPr>
              <p:cNvSpPr/>
              <p:nvPr/>
            </p:nvSpPr>
            <p:spPr>
              <a:xfrm>
                <a:off x="2906232" y="3377604"/>
                <a:ext cx="718458" cy="36000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C7C9945C-0663-A723-ECF9-EA8BDB8840BF}"/>
                  </a:ext>
                </a:extLst>
              </p:cNvPr>
              <p:cNvSpPr/>
              <p:nvPr/>
            </p:nvSpPr>
            <p:spPr>
              <a:xfrm>
                <a:off x="2528931" y="1217946"/>
                <a:ext cx="1500078" cy="2865723"/>
              </a:xfrm>
              <a:custGeom>
                <a:avLst/>
                <a:gdLst>
                  <a:gd name="csX0" fmla="*/ 12109 w 1500078"/>
                  <a:gd name="csY0" fmla="*/ 0 h 2865723"/>
                  <a:gd name="csX1" fmla="*/ 1500078 w 1500078"/>
                  <a:gd name="csY1" fmla="*/ 0 h 2865723"/>
                  <a:gd name="csX2" fmla="*/ 1500078 w 1500078"/>
                  <a:gd name="csY2" fmla="*/ 360000 h 2865723"/>
                  <a:gd name="csX3" fmla="*/ 1095758 w 1500078"/>
                  <a:gd name="csY3" fmla="*/ 360000 h 2865723"/>
                  <a:gd name="csX4" fmla="*/ 1095758 w 1500078"/>
                  <a:gd name="csY4" fmla="*/ 2505723 h 2865723"/>
                  <a:gd name="csX5" fmla="*/ 1487969 w 1500078"/>
                  <a:gd name="csY5" fmla="*/ 2505723 h 2865723"/>
                  <a:gd name="csX6" fmla="*/ 1487969 w 1500078"/>
                  <a:gd name="csY6" fmla="*/ 2865723 h 2865723"/>
                  <a:gd name="csX7" fmla="*/ 0 w 1500078"/>
                  <a:gd name="csY7" fmla="*/ 2865723 h 2865723"/>
                  <a:gd name="csX8" fmla="*/ 0 w 1500078"/>
                  <a:gd name="csY8" fmla="*/ 2505723 h 2865723"/>
                  <a:gd name="csX9" fmla="*/ 372165 w 1500078"/>
                  <a:gd name="csY9" fmla="*/ 2505723 h 2865723"/>
                  <a:gd name="csX10" fmla="*/ 372165 w 1500078"/>
                  <a:gd name="csY10" fmla="*/ 360000 h 2865723"/>
                  <a:gd name="csX11" fmla="*/ 12109 w 1500078"/>
                  <a:gd name="csY11" fmla="*/ 360000 h 28657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1500078" h="2865723">
                    <a:moveTo>
                      <a:pt x="12109" y="0"/>
                    </a:moveTo>
                    <a:lnTo>
                      <a:pt x="1500078" y="0"/>
                    </a:lnTo>
                    <a:lnTo>
                      <a:pt x="1500078" y="360000"/>
                    </a:lnTo>
                    <a:lnTo>
                      <a:pt x="1095758" y="360000"/>
                    </a:lnTo>
                    <a:lnTo>
                      <a:pt x="1095758" y="2505723"/>
                    </a:lnTo>
                    <a:lnTo>
                      <a:pt x="1487969" y="2505723"/>
                    </a:lnTo>
                    <a:lnTo>
                      <a:pt x="1487969" y="2865723"/>
                    </a:lnTo>
                    <a:lnTo>
                      <a:pt x="0" y="2865723"/>
                    </a:lnTo>
                    <a:lnTo>
                      <a:pt x="0" y="2505723"/>
                    </a:lnTo>
                    <a:lnTo>
                      <a:pt x="372165" y="2505723"/>
                    </a:lnTo>
                    <a:lnTo>
                      <a:pt x="372165" y="360000"/>
                    </a:lnTo>
                    <a:lnTo>
                      <a:pt x="12109" y="3600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SG" dirty="0"/>
              </a:p>
            </p:txBody>
          </p:sp>
        </p:grp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CE8C01DD-8A2D-B49E-A00F-4CC54132EFD6}"/>
                </a:ext>
              </a:extLst>
            </p:cNvPr>
            <p:cNvSpPr/>
            <p:nvPr/>
          </p:nvSpPr>
          <p:spPr>
            <a:xfrm>
              <a:off x="3346044" y="3409414"/>
              <a:ext cx="342903" cy="193135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3B46EA6F-15DC-8D5B-4C48-5275CF54DA5E}"/>
                </a:ext>
              </a:extLst>
            </p:cNvPr>
            <p:cNvSpPr/>
            <p:nvPr/>
          </p:nvSpPr>
          <p:spPr>
            <a:xfrm>
              <a:off x="3348930" y="3053536"/>
              <a:ext cx="342903" cy="193135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571A2585-6A15-5161-BFFF-53A3428C9E25}"/>
                </a:ext>
              </a:extLst>
            </p:cNvPr>
            <p:cNvSpPr/>
            <p:nvPr/>
          </p:nvSpPr>
          <p:spPr>
            <a:xfrm>
              <a:off x="3348930" y="3244035"/>
              <a:ext cx="342903" cy="16346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D0548B7C-B5BB-FA62-37D3-291C00A94EA4}"/>
                </a:ext>
              </a:extLst>
            </p:cNvPr>
            <p:cNvSpPr/>
            <p:nvPr/>
          </p:nvSpPr>
          <p:spPr>
            <a:xfrm>
              <a:off x="3345539" y="3603222"/>
              <a:ext cx="342903" cy="19313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4F37CFD7-838B-F409-8021-B8547189532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167032" y="2763272"/>
              <a:ext cx="718180" cy="1368000"/>
              <a:chOff x="2526597" y="1217946"/>
              <a:chExt cx="1504746" cy="2866263"/>
            </a:xfrm>
          </p:grpSpPr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6C606DA7-3DB7-A03E-4922-FE4619EC4A78}"/>
                  </a:ext>
                </a:extLst>
              </p:cNvPr>
              <p:cNvSpPr/>
              <p:nvPr/>
            </p:nvSpPr>
            <p:spPr>
              <a:xfrm>
                <a:off x="2906232" y="1483077"/>
                <a:ext cx="718458" cy="34249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3D8CFBAC-594A-AC06-2B5E-856D86687351}"/>
                  </a:ext>
                </a:extLst>
              </p:cNvPr>
              <p:cNvSpPr/>
              <p:nvPr/>
            </p:nvSpPr>
            <p:spPr>
              <a:xfrm>
                <a:off x="2543375" y="1227193"/>
                <a:ext cx="1487968" cy="34480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36DD7A7F-D180-95A8-1873-3C53A84008E3}"/>
                  </a:ext>
                </a:extLst>
              </p:cNvPr>
              <p:cNvSpPr/>
              <p:nvPr/>
            </p:nvSpPr>
            <p:spPr>
              <a:xfrm>
                <a:off x="2526597" y="3724209"/>
                <a:ext cx="1479918" cy="360000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AB7C3EDD-6754-555D-B63E-B6CC6B2CCD25}"/>
                  </a:ext>
                </a:extLst>
              </p:cNvPr>
              <p:cNvSpPr/>
              <p:nvPr/>
            </p:nvSpPr>
            <p:spPr>
              <a:xfrm>
                <a:off x="2906232" y="3377604"/>
                <a:ext cx="718458" cy="404661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B689A34F-36CF-DBAC-86C8-45D8C9E07D53}"/>
                  </a:ext>
                </a:extLst>
              </p:cNvPr>
              <p:cNvSpPr/>
              <p:nvPr/>
            </p:nvSpPr>
            <p:spPr>
              <a:xfrm>
                <a:off x="2528931" y="1217946"/>
                <a:ext cx="1500078" cy="2865723"/>
              </a:xfrm>
              <a:custGeom>
                <a:avLst/>
                <a:gdLst>
                  <a:gd name="csX0" fmla="*/ 12109 w 1500078"/>
                  <a:gd name="csY0" fmla="*/ 0 h 2865723"/>
                  <a:gd name="csX1" fmla="*/ 1500078 w 1500078"/>
                  <a:gd name="csY1" fmla="*/ 0 h 2865723"/>
                  <a:gd name="csX2" fmla="*/ 1500078 w 1500078"/>
                  <a:gd name="csY2" fmla="*/ 360000 h 2865723"/>
                  <a:gd name="csX3" fmla="*/ 1095758 w 1500078"/>
                  <a:gd name="csY3" fmla="*/ 360000 h 2865723"/>
                  <a:gd name="csX4" fmla="*/ 1095758 w 1500078"/>
                  <a:gd name="csY4" fmla="*/ 2505723 h 2865723"/>
                  <a:gd name="csX5" fmla="*/ 1487969 w 1500078"/>
                  <a:gd name="csY5" fmla="*/ 2505723 h 2865723"/>
                  <a:gd name="csX6" fmla="*/ 1487969 w 1500078"/>
                  <a:gd name="csY6" fmla="*/ 2865723 h 2865723"/>
                  <a:gd name="csX7" fmla="*/ 0 w 1500078"/>
                  <a:gd name="csY7" fmla="*/ 2865723 h 2865723"/>
                  <a:gd name="csX8" fmla="*/ 0 w 1500078"/>
                  <a:gd name="csY8" fmla="*/ 2505723 h 2865723"/>
                  <a:gd name="csX9" fmla="*/ 372165 w 1500078"/>
                  <a:gd name="csY9" fmla="*/ 2505723 h 2865723"/>
                  <a:gd name="csX10" fmla="*/ 372165 w 1500078"/>
                  <a:gd name="csY10" fmla="*/ 360000 h 2865723"/>
                  <a:gd name="csX11" fmla="*/ 12109 w 1500078"/>
                  <a:gd name="csY11" fmla="*/ 360000 h 28657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1500078" h="2865723">
                    <a:moveTo>
                      <a:pt x="12109" y="0"/>
                    </a:moveTo>
                    <a:lnTo>
                      <a:pt x="1500078" y="0"/>
                    </a:lnTo>
                    <a:lnTo>
                      <a:pt x="1500078" y="360000"/>
                    </a:lnTo>
                    <a:lnTo>
                      <a:pt x="1095758" y="360000"/>
                    </a:lnTo>
                    <a:lnTo>
                      <a:pt x="1095758" y="2505723"/>
                    </a:lnTo>
                    <a:lnTo>
                      <a:pt x="1487969" y="2505723"/>
                    </a:lnTo>
                    <a:lnTo>
                      <a:pt x="1487969" y="2865723"/>
                    </a:lnTo>
                    <a:lnTo>
                      <a:pt x="0" y="2865723"/>
                    </a:lnTo>
                    <a:lnTo>
                      <a:pt x="0" y="2505723"/>
                    </a:lnTo>
                    <a:lnTo>
                      <a:pt x="372165" y="2505723"/>
                    </a:lnTo>
                    <a:lnTo>
                      <a:pt x="372165" y="360000"/>
                    </a:lnTo>
                    <a:lnTo>
                      <a:pt x="12109" y="3600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SG" dirty="0"/>
              </a:p>
            </p:txBody>
          </p: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B90AE608-E95E-640E-EE53-8E327BA8B775}"/>
                </a:ext>
              </a:extLst>
            </p:cNvPr>
            <p:cNvGrpSpPr/>
            <p:nvPr/>
          </p:nvGrpSpPr>
          <p:grpSpPr>
            <a:xfrm>
              <a:off x="1378905" y="1259948"/>
              <a:ext cx="1511001" cy="2866263"/>
              <a:chOff x="-19909" y="1035222"/>
              <a:chExt cx="1511001" cy="2866263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FEF4A4C-3636-507C-F0E7-F94B1820820F}"/>
                  </a:ext>
                </a:extLst>
              </p:cNvPr>
              <p:cNvSpPr/>
              <p:nvPr/>
            </p:nvSpPr>
            <p:spPr>
              <a:xfrm>
                <a:off x="362857" y="1300354"/>
                <a:ext cx="718458" cy="134079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684D8A4D-CCE8-EECC-ECEE-DEA0E290B5C2}"/>
                  </a:ext>
                </a:extLst>
              </p:cNvPr>
              <p:cNvSpPr/>
              <p:nvPr/>
            </p:nvSpPr>
            <p:spPr>
              <a:xfrm>
                <a:off x="0" y="1044469"/>
                <a:ext cx="1487968" cy="34480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A8C8A3EA-D408-FF81-7A51-3665E51D3309}"/>
                  </a:ext>
                </a:extLst>
              </p:cNvPr>
              <p:cNvSpPr/>
              <p:nvPr/>
            </p:nvSpPr>
            <p:spPr>
              <a:xfrm>
                <a:off x="-16778" y="3541485"/>
                <a:ext cx="1479918" cy="360000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F88AEFE-EA36-478C-538D-FF0469C9FC32}"/>
                  </a:ext>
                </a:extLst>
              </p:cNvPr>
              <p:cNvSpPr/>
              <p:nvPr/>
            </p:nvSpPr>
            <p:spPr>
              <a:xfrm>
                <a:off x="362857" y="2641600"/>
                <a:ext cx="718458" cy="957943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CA2035AF-7A8B-DD60-FE4C-76E3CCA22EEF}"/>
                  </a:ext>
                </a:extLst>
              </p:cNvPr>
              <p:cNvGrpSpPr/>
              <p:nvPr/>
            </p:nvGrpSpPr>
            <p:grpSpPr>
              <a:xfrm>
                <a:off x="378732" y="2083431"/>
                <a:ext cx="267188" cy="539943"/>
                <a:chOff x="381907" y="2083431"/>
                <a:chExt cx="267188" cy="539943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3AE8E3C-9E3A-C91D-924D-777A183994D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81907" y="2587374"/>
                  <a:ext cx="36000" cy="3600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96215EDE-5153-FD66-E994-669A16A7C9D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81907" y="2507999"/>
                  <a:ext cx="36000" cy="3600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97612DFA-2283-3350-6CBD-8BF74590A76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81907" y="2428624"/>
                  <a:ext cx="36000" cy="3600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2AF24C81-C80D-7307-FB69-DC5F07B9131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81907" y="2317325"/>
                  <a:ext cx="36000" cy="3600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03F0606-F44B-76BD-1A12-74A3604C847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8939" y="2245325"/>
                  <a:ext cx="72000" cy="7200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3200E3B6-8239-AE8B-4AE5-770521322AD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6957" y="2361549"/>
                  <a:ext cx="72000" cy="7200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1BB1534D-33D7-8C5D-5AB0-0BC833A2730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6957" y="2477773"/>
                  <a:ext cx="72000" cy="7200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61666903-65E1-44F3-CAF2-1B143790230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31182" y="2083431"/>
                  <a:ext cx="108000" cy="10800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CBA6BF51-BA13-D9F5-E374-EAE19C84BCC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41095" y="2261599"/>
                  <a:ext cx="108000" cy="10800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7DF1B0D7-A4D2-9B8C-725C-43F1F9437BD4}"/>
                  </a:ext>
                </a:extLst>
              </p:cNvPr>
              <p:cNvGrpSpPr/>
              <p:nvPr/>
            </p:nvGrpSpPr>
            <p:grpSpPr>
              <a:xfrm flipH="1">
                <a:off x="804332" y="2068528"/>
                <a:ext cx="267188" cy="539943"/>
                <a:chOff x="381907" y="2083431"/>
                <a:chExt cx="267188" cy="539943"/>
              </a:xfrm>
            </p:grpSpPr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0649BCFA-0943-9937-72D4-65414BA4C2D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81907" y="2587374"/>
                  <a:ext cx="36000" cy="3600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D735A277-48A1-326B-7D8D-50CE154DBE4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81907" y="2507999"/>
                  <a:ext cx="36000" cy="3600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5C8900FD-AAF7-9F31-F1B4-4E39F8BC7A5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81907" y="2428624"/>
                  <a:ext cx="36000" cy="3600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55C15986-B548-ADF4-4DDA-3B00CF32BAB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81907" y="2317325"/>
                  <a:ext cx="36000" cy="3600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DFEC27F2-5F11-D226-1B17-14DE95F58C4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8939" y="2245325"/>
                  <a:ext cx="72000" cy="7200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15AC64F5-4E92-97F5-C6B0-5501A87044B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6957" y="2361549"/>
                  <a:ext cx="72000" cy="7200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DFDA0BDC-7A60-770C-AB10-6A7572BDF26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6957" y="2477773"/>
                  <a:ext cx="72000" cy="7200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A56F986-E1C9-3BA5-289C-83AE0226EC4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31182" y="2083431"/>
                  <a:ext cx="108000" cy="10800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A2C40687-CEDA-9A2D-4B31-3D6D703A875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41095" y="2261599"/>
                  <a:ext cx="108000" cy="10800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</p:grp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506BC9E5-E002-BA7F-AB7E-3A1C7E23164D}"/>
                  </a:ext>
                </a:extLst>
              </p:cNvPr>
              <p:cNvCxnSpPr/>
              <p:nvPr/>
            </p:nvCxnSpPr>
            <p:spPr>
              <a:xfrm>
                <a:off x="362857" y="2643869"/>
                <a:ext cx="952500" cy="0"/>
              </a:xfrm>
              <a:prstGeom prst="line">
                <a:avLst/>
              </a:prstGeom>
              <a:ln>
                <a:solidFill>
                  <a:schemeClr val="accent2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E93A7637-BA78-8995-C94C-7F974104297B}"/>
                      </a:ext>
                    </a:extLst>
                  </p:cNvPr>
                  <p:cNvSpPr txBox="1"/>
                  <p:nvPr/>
                </p:nvSpPr>
                <p:spPr>
                  <a:xfrm>
                    <a:off x="1095586" y="2626222"/>
                    <a:ext cx="330988" cy="1538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SG" sz="1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  <m:r>
                            <a:rPr lang="en-SG" sz="1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SG" sz="1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oMath>
                      </m:oMathPara>
                    </a14:m>
                    <a:endParaRPr lang="en-SG" sz="1000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E93A7637-BA78-8995-C94C-7F974104297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5586" y="2626222"/>
                    <a:ext cx="330988" cy="153888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7407" r="-11111" b="-800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824DB3E1-4312-1CD6-8E07-A0468E844C92}"/>
                  </a:ext>
                </a:extLst>
              </p:cNvPr>
              <p:cNvGrpSpPr/>
              <p:nvPr/>
            </p:nvGrpSpPr>
            <p:grpSpPr>
              <a:xfrm>
                <a:off x="193874" y="1573355"/>
                <a:ext cx="163848" cy="1735862"/>
                <a:chOff x="165100" y="1573355"/>
                <a:chExt cx="192622" cy="1735862"/>
              </a:xfrm>
            </p:grpSpPr>
            <p:cxnSp>
              <p:nvCxnSpPr>
                <p:cNvPr id="70" name="Connector: Curved 69">
                  <a:extLst>
                    <a:ext uri="{FF2B5EF4-FFF2-40B4-BE49-F238E27FC236}">
                      <a16:creationId xmlns:a16="http://schemas.microsoft.com/office/drawing/2014/main" id="{559D8240-FDD3-8190-FBAC-C3B315D94D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5840" y="1573355"/>
                  <a:ext cx="181882" cy="169431"/>
                </a:xfrm>
                <a:prstGeom prst="curvedConnector3">
                  <a:avLst>
                    <a:gd name="adj1" fmla="val 39526"/>
                  </a:avLst>
                </a:prstGeom>
                <a:ln w="9525">
                  <a:solidFill>
                    <a:schemeClr val="accent5">
                      <a:lumMod val="75000"/>
                    </a:schemeClr>
                  </a:solidFill>
                  <a:headEnd type="none" w="med" len="med"/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Connector: Curved 72">
                  <a:extLst>
                    <a:ext uri="{FF2B5EF4-FFF2-40B4-BE49-F238E27FC236}">
                      <a16:creationId xmlns:a16="http://schemas.microsoft.com/office/drawing/2014/main" id="{518A2D92-2FD9-D199-7CFC-FB52A93513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5840" y="1797131"/>
                  <a:ext cx="181882" cy="169431"/>
                </a:xfrm>
                <a:prstGeom prst="curvedConnector3">
                  <a:avLst>
                    <a:gd name="adj1" fmla="val 39526"/>
                  </a:avLst>
                </a:prstGeom>
                <a:ln w="9525">
                  <a:solidFill>
                    <a:schemeClr val="accent5">
                      <a:lumMod val="75000"/>
                    </a:schemeClr>
                  </a:solidFill>
                  <a:headEnd type="none" w="med" len="med"/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Connector: Curved 73">
                  <a:extLst>
                    <a:ext uri="{FF2B5EF4-FFF2-40B4-BE49-F238E27FC236}">
                      <a16:creationId xmlns:a16="http://schemas.microsoft.com/office/drawing/2014/main" id="{30FC9143-E686-7B47-C229-CC07CE50D2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5840" y="2020907"/>
                  <a:ext cx="181882" cy="169431"/>
                </a:xfrm>
                <a:prstGeom prst="curvedConnector3">
                  <a:avLst>
                    <a:gd name="adj1" fmla="val 39526"/>
                  </a:avLst>
                </a:prstGeom>
                <a:ln w="9525">
                  <a:solidFill>
                    <a:schemeClr val="accent5">
                      <a:lumMod val="75000"/>
                    </a:schemeClr>
                  </a:solidFill>
                  <a:headEnd type="none" w="med" len="med"/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Connector: Curved 74">
                  <a:extLst>
                    <a:ext uri="{FF2B5EF4-FFF2-40B4-BE49-F238E27FC236}">
                      <a16:creationId xmlns:a16="http://schemas.microsoft.com/office/drawing/2014/main" id="{FA6C0ED9-9094-C2B8-3927-0AA76DAB4A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5840" y="2244683"/>
                  <a:ext cx="181882" cy="169431"/>
                </a:xfrm>
                <a:prstGeom prst="curvedConnector3">
                  <a:avLst>
                    <a:gd name="adj1" fmla="val 39526"/>
                  </a:avLst>
                </a:prstGeom>
                <a:ln w="9525">
                  <a:solidFill>
                    <a:schemeClr val="accent5">
                      <a:lumMod val="75000"/>
                    </a:schemeClr>
                  </a:solidFill>
                  <a:headEnd type="none" w="med" len="med"/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Connector: Curved 75">
                  <a:extLst>
                    <a:ext uri="{FF2B5EF4-FFF2-40B4-BE49-F238E27FC236}">
                      <a16:creationId xmlns:a16="http://schemas.microsoft.com/office/drawing/2014/main" id="{1E4CE7E5-6D73-5E0C-5AA4-0F82EDCB9B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5840" y="2468459"/>
                  <a:ext cx="181882" cy="169431"/>
                </a:xfrm>
                <a:prstGeom prst="curvedConnector3">
                  <a:avLst>
                    <a:gd name="adj1" fmla="val 39526"/>
                  </a:avLst>
                </a:prstGeom>
                <a:ln w="9525">
                  <a:solidFill>
                    <a:schemeClr val="accent5">
                      <a:lumMod val="75000"/>
                    </a:schemeClr>
                  </a:solidFill>
                  <a:headEnd type="none" w="med" len="med"/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Connector: Curved 76">
                  <a:extLst>
                    <a:ext uri="{FF2B5EF4-FFF2-40B4-BE49-F238E27FC236}">
                      <a16:creationId xmlns:a16="http://schemas.microsoft.com/office/drawing/2014/main" id="{846AD3D6-47C3-378D-DFEB-E3030617C2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5840" y="2692235"/>
                  <a:ext cx="181882" cy="169431"/>
                </a:xfrm>
                <a:prstGeom prst="curvedConnector3">
                  <a:avLst>
                    <a:gd name="adj1" fmla="val 39526"/>
                  </a:avLst>
                </a:prstGeom>
                <a:ln w="9525">
                  <a:solidFill>
                    <a:schemeClr val="accent5">
                      <a:lumMod val="75000"/>
                    </a:schemeClr>
                  </a:solidFill>
                  <a:headEnd type="none" w="med" len="med"/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Connector: Curved 77">
                  <a:extLst>
                    <a:ext uri="{FF2B5EF4-FFF2-40B4-BE49-F238E27FC236}">
                      <a16:creationId xmlns:a16="http://schemas.microsoft.com/office/drawing/2014/main" id="{B670CC59-B9BB-6456-77AE-7FEDDF62F5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5840" y="2916011"/>
                  <a:ext cx="181882" cy="169431"/>
                </a:xfrm>
                <a:prstGeom prst="curvedConnector3">
                  <a:avLst>
                    <a:gd name="adj1" fmla="val 39526"/>
                  </a:avLst>
                </a:prstGeom>
                <a:ln w="9525">
                  <a:solidFill>
                    <a:schemeClr val="accent5">
                      <a:lumMod val="75000"/>
                    </a:schemeClr>
                  </a:solidFill>
                  <a:headEnd type="none" w="med" len="med"/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Connector: Curved 78">
                  <a:extLst>
                    <a:ext uri="{FF2B5EF4-FFF2-40B4-BE49-F238E27FC236}">
                      <a16:creationId xmlns:a16="http://schemas.microsoft.com/office/drawing/2014/main" id="{189940BC-237A-FFD7-814B-09D4003E96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5100" y="3139786"/>
                  <a:ext cx="181882" cy="169431"/>
                </a:xfrm>
                <a:prstGeom prst="curvedConnector3">
                  <a:avLst>
                    <a:gd name="adj1" fmla="val 39526"/>
                  </a:avLst>
                </a:prstGeom>
                <a:ln w="9525">
                  <a:solidFill>
                    <a:schemeClr val="accent5">
                      <a:lumMod val="75000"/>
                    </a:schemeClr>
                  </a:solidFill>
                  <a:headEnd type="none" w="med" len="med"/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85792C48-2DC9-F9AC-5C6C-C782292D3F97}"/>
                  </a:ext>
                </a:extLst>
              </p:cNvPr>
              <p:cNvGrpSpPr/>
              <p:nvPr/>
            </p:nvGrpSpPr>
            <p:grpSpPr>
              <a:xfrm rot="10800000">
                <a:off x="1100412" y="1676068"/>
                <a:ext cx="163848" cy="1735862"/>
                <a:chOff x="165100" y="1573355"/>
                <a:chExt cx="192622" cy="1735862"/>
              </a:xfrm>
            </p:grpSpPr>
            <p:cxnSp>
              <p:nvCxnSpPr>
                <p:cNvPr id="82" name="Connector: Curved 81">
                  <a:extLst>
                    <a:ext uri="{FF2B5EF4-FFF2-40B4-BE49-F238E27FC236}">
                      <a16:creationId xmlns:a16="http://schemas.microsoft.com/office/drawing/2014/main" id="{CE013402-C74D-8574-686C-5FB0E632BC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5840" y="1573355"/>
                  <a:ext cx="181882" cy="169431"/>
                </a:xfrm>
                <a:prstGeom prst="curvedConnector3">
                  <a:avLst>
                    <a:gd name="adj1" fmla="val 39526"/>
                  </a:avLst>
                </a:prstGeom>
                <a:ln w="9525">
                  <a:solidFill>
                    <a:schemeClr val="accent5">
                      <a:lumMod val="75000"/>
                    </a:schemeClr>
                  </a:solidFill>
                  <a:headEnd type="none" w="med" len="med"/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Connector: Curved 82">
                  <a:extLst>
                    <a:ext uri="{FF2B5EF4-FFF2-40B4-BE49-F238E27FC236}">
                      <a16:creationId xmlns:a16="http://schemas.microsoft.com/office/drawing/2014/main" id="{F90585D2-1EE7-C420-E0FB-45C4D7364B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5840" y="1797131"/>
                  <a:ext cx="181882" cy="169431"/>
                </a:xfrm>
                <a:prstGeom prst="curvedConnector3">
                  <a:avLst>
                    <a:gd name="adj1" fmla="val 39526"/>
                  </a:avLst>
                </a:prstGeom>
                <a:ln w="9525">
                  <a:solidFill>
                    <a:schemeClr val="accent5">
                      <a:lumMod val="75000"/>
                    </a:schemeClr>
                  </a:solidFill>
                  <a:headEnd type="none" w="med" len="med"/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Connector: Curved 83">
                  <a:extLst>
                    <a:ext uri="{FF2B5EF4-FFF2-40B4-BE49-F238E27FC236}">
                      <a16:creationId xmlns:a16="http://schemas.microsoft.com/office/drawing/2014/main" id="{CECA8526-C453-6290-551A-E75E1EF934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5840" y="2020907"/>
                  <a:ext cx="181882" cy="169431"/>
                </a:xfrm>
                <a:prstGeom prst="curvedConnector3">
                  <a:avLst>
                    <a:gd name="adj1" fmla="val 39526"/>
                  </a:avLst>
                </a:prstGeom>
                <a:ln w="9525">
                  <a:solidFill>
                    <a:schemeClr val="accent5">
                      <a:lumMod val="75000"/>
                    </a:schemeClr>
                  </a:solidFill>
                  <a:headEnd type="none" w="med" len="med"/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Connector: Curved 85">
                  <a:extLst>
                    <a:ext uri="{FF2B5EF4-FFF2-40B4-BE49-F238E27FC236}">
                      <a16:creationId xmlns:a16="http://schemas.microsoft.com/office/drawing/2014/main" id="{C1A95291-B075-A505-2C5B-11B5968422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5840" y="2468459"/>
                  <a:ext cx="181882" cy="169431"/>
                </a:xfrm>
                <a:prstGeom prst="curvedConnector3">
                  <a:avLst>
                    <a:gd name="adj1" fmla="val 39526"/>
                  </a:avLst>
                </a:prstGeom>
                <a:ln w="9525">
                  <a:solidFill>
                    <a:schemeClr val="accent5">
                      <a:lumMod val="75000"/>
                    </a:schemeClr>
                  </a:solidFill>
                  <a:headEnd type="none" w="med" len="med"/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Connector: Curved 86">
                  <a:extLst>
                    <a:ext uri="{FF2B5EF4-FFF2-40B4-BE49-F238E27FC236}">
                      <a16:creationId xmlns:a16="http://schemas.microsoft.com/office/drawing/2014/main" id="{C1B0ACC6-8798-6646-6116-8EDD569BE2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5840" y="2692235"/>
                  <a:ext cx="181882" cy="169431"/>
                </a:xfrm>
                <a:prstGeom prst="curvedConnector3">
                  <a:avLst>
                    <a:gd name="adj1" fmla="val 39526"/>
                  </a:avLst>
                </a:prstGeom>
                <a:ln w="9525">
                  <a:solidFill>
                    <a:schemeClr val="accent5">
                      <a:lumMod val="75000"/>
                    </a:schemeClr>
                  </a:solidFill>
                  <a:headEnd type="none" w="med" len="med"/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Connector: Curved 87">
                  <a:extLst>
                    <a:ext uri="{FF2B5EF4-FFF2-40B4-BE49-F238E27FC236}">
                      <a16:creationId xmlns:a16="http://schemas.microsoft.com/office/drawing/2014/main" id="{C7233582-BE79-E4A3-9C0A-2B370ED1E6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5840" y="2916011"/>
                  <a:ext cx="181882" cy="169431"/>
                </a:xfrm>
                <a:prstGeom prst="curvedConnector3">
                  <a:avLst>
                    <a:gd name="adj1" fmla="val 39526"/>
                  </a:avLst>
                </a:prstGeom>
                <a:ln w="9525">
                  <a:solidFill>
                    <a:schemeClr val="accent5">
                      <a:lumMod val="75000"/>
                    </a:schemeClr>
                  </a:solidFill>
                  <a:headEnd type="none" w="med" len="med"/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Connector: Curved 88">
                  <a:extLst>
                    <a:ext uri="{FF2B5EF4-FFF2-40B4-BE49-F238E27FC236}">
                      <a16:creationId xmlns:a16="http://schemas.microsoft.com/office/drawing/2014/main" id="{F267B069-B40B-1917-96A2-1E3C307969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5100" y="3139786"/>
                  <a:ext cx="181882" cy="169431"/>
                </a:xfrm>
                <a:prstGeom prst="curvedConnector3">
                  <a:avLst>
                    <a:gd name="adj1" fmla="val 39526"/>
                  </a:avLst>
                </a:prstGeom>
                <a:ln w="9525">
                  <a:solidFill>
                    <a:schemeClr val="accent5">
                      <a:lumMod val="75000"/>
                    </a:schemeClr>
                  </a:solidFill>
                  <a:headEnd type="none" w="med" len="med"/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4CB3AABB-1A39-B175-5724-B0E5D9EB2E70}"/>
                      </a:ext>
                    </a:extLst>
                  </p:cNvPr>
                  <p:cNvSpPr txBox="1"/>
                  <p:nvPr/>
                </p:nvSpPr>
                <p:spPr>
                  <a:xfrm>
                    <a:off x="50076" y="2376360"/>
                    <a:ext cx="163506" cy="1538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1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SG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SG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oMath>
                      </m:oMathPara>
                    </a14:m>
                    <a:endParaRPr lang="en-SG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4CB3AABB-1A39-B175-5724-B0E5D9EB2E7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076" y="2376360"/>
                    <a:ext cx="163506" cy="153888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8519" r="-18519" b="-2800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4" name="Arrow: Right 93">
                <a:extLst>
                  <a:ext uri="{FF2B5EF4-FFF2-40B4-BE49-F238E27FC236}">
                    <a16:creationId xmlns:a16="http://schemas.microsoft.com/office/drawing/2014/main" id="{4407C757-0983-049A-A799-143E105C1ECB}"/>
                  </a:ext>
                </a:extLst>
              </p:cNvPr>
              <p:cNvSpPr/>
              <p:nvPr/>
            </p:nvSpPr>
            <p:spPr>
              <a:xfrm rot="16200000">
                <a:off x="636926" y="3447154"/>
                <a:ext cx="170315" cy="70909"/>
              </a:xfrm>
              <a:prstGeom prst="rightArrow">
                <a:avLst>
                  <a:gd name="adj1" fmla="val 50000"/>
                  <a:gd name="adj2" fmla="val 102038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BC440CBD-F5D2-05BB-49D3-61C06D87656A}"/>
                  </a:ext>
                </a:extLst>
              </p:cNvPr>
              <p:cNvSpPr txBox="1"/>
              <p:nvPr/>
            </p:nvSpPr>
            <p:spPr>
              <a:xfrm>
                <a:off x="469782" y="2934128"/>
                <a:ext cx="543739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G" sz="1000" b="1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Liquid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3FFAEB5D-EEBF-64D7-39F0-EC36C7329914}"/>
                  </a:ext>
                </a:extLst>
              </p:cNvPr>
              <p:cNvSpPr txBox="1"/>
              <p:nvPr/>
            </p:nvSpPr>
            <p:spPr>
              <a:xfrm>
                <a:off x="-19909" y="1089748"/>
                <a:ext cx="151100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900" b="1" dirty="0">
                    <a:solidFill>
                      <a:schemeClr val="accent2">
                        <a:lumMod val="50000"/>
                      </a:schemeClr>
                    </a:solidFill>
                  </a:rPr>
                  <a:t>Outlet Plenum</a:t>
                </a:r>
              </a:p>
            </p:txBody>
          </p:sp>
          <p:sp>
            <p:nvSpPr>
              <p:cNvPr id="101" name="Arrow: Right 100">
                <a:extLst>
                  <a:ext uri="{FF2B5EF4-FFF2-40B4-BE49-F238E27FC236}">
                    <a16:creationId xmlns:a16="http://schemas.microsoft.com/office/drawing/2014/main" id="{8C30EE08-0C5D-7412-2E07-648E51D67C64}"/>
                  </a:ext>
                </a:extLst>
              </p:cNvPr>
              <p:cNvSpPr/>
              <p:nvPr/>
            </p:nvSpPr>
            <p:spPr>
              <a:xfrm rot="16200000">
                <a:off x="650437" y="1382810"/>
                <a:ext cx="170315" cy="70909"/>
              </a:xfrm>
              <a:prstGeom prst="rightArrow">
                <a:avLst>
                  <a:gd name="adj1" fmla="val 50000"/>
                  <a:gd name="adj2" fmla="val 102038"/>
                </a:avLst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784AA4C1-8A97-40AA-44A6-07546EBBABA3}"/>
                  </a:ext>
                </a:extLst>
              </p:cNvPr>
              <p:cNvSpPr/>
              <p:nvPr/>
            </p:nvSpPr>
            <p:spPr>
              <a:xfrm>
                <a:off x="-14444" y="1035222"/>
                <a:ext cx="1500078" cy="2865723"/>
              </a:xfrm>
              <a:custGeom>
                <a:avLst/>
                <a:gdLst>
                  <a:gd name="csX0" fmla="*/ 12109 w 1500078"/>
                  <a:gd name="csY0" fmla="*/ 0 h 2865723"/>
                  <a:gd name="csX1" fmla="*/ 1500078 w 1500078"/>
                  <a:gd name="csY1" fmla="*/ 0 h 2865723"/>
                  <a:gd name="csX2" fmla="*/ 1500078 w 1500078"/>
                  <a:gd name="csY2" fmla="*/ 360000 h 2865723"/>
                  <a:gd name="csX3" fmla="*/ 1095758 w 1500078"/>
                  <a:gd name="csY3" fmla="*/ 360000 h 2865723"/>
                  <a:gd name="csX4" fmla="*/ 1095758 w 1500078"/>
                  <a:gd name="csY4" fmla="*/ 2505723 h 2865723"/>
                  <a:gd name="csX5" fmla="*/ 1487969 w 1500078"/>
                  <a:gd name="csY5" fmla="*/ 2505723 h 2865723"/>
                  <a:gd name="csX6" fmla="*/ 1487969 w 1500078"/>
                  <a:gd name="csY6" fmla="*/ 2865723 h 2865723"/>
                  <a:gd name="csX7" fmla="*/ 0 w 1500078"/>
                  <a:gd name="csY7" fmla="*/ 2865723 h 2865723"/>
                  <a:gd name="csX8" fmla="*/ 0 w 1500078"/>
                  <a:gd name="csY8" fmla="*/ 2505723 h 2865723"/>
                  <a:gd name="csX9" fmla="*/ 372165 w 1500078"/>
                  <a:gd name="csY9" fmla="*/ 2505723 h 2865723"/>
                  <a:gd name="csX10" fmla="*/ 372165 w 1500078"/>
                  <a:gd name="csY10" fmla="*/ 360000 h 2865723"/>
                  <a:gd name="csX11" fmla="*/ 12109 w 1500078"/>
                  <a:gd name="csY11" fmla="*/ 360000 h 28657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1500078" h="2865723">
                    <a:moveTo>
                      <a:pt x="12109" y="0"/>
                    </a:moveTo>
                    <a:lnTo>
                      <a:pt x="1500078" y="0"/>
                    </a:lnTo>
                    <a:lnTo>
                      <a:pt x="1500078" y="360000"/>
                    </a:lnTo>
                    <a:lnTo>
                      <a:pt x="1095758" y="360000"/>
                    </a:lnTo>
                    <a:lnTo>
                      <a:pt x="1095758" y="2505723"/>
                    </a:lnTo>
                    <a:lnTo>
                      <a:pt x="1487969" y="2505723"/>
                    </a:lnTo>
                    <a:lnTo>
                      <a:pt x="1487969" y="2865723"/>
                    </a:lnTo>
                    <a:lnTo>
                      <a:pt x="0" y="2865723"/>
                    </a:lnTo>
                    <a:lnTo>
                      <a:pt x="0" y="2505723"/>
                    </a:lnTo>
                    <a:lnTo>
                      <a:pt x="372165" y="2505723"/>
                    </a:lnTo>
                    <a:lnTo>
                      <a:pt x="372165" y="360000"/>
                    </a:lnTo>
                    <a:lnTo>
                      <a:pt x="12109" y="360000"/>
                    </a:lnTo>
                    <a:close/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SG"/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D530BAF9-596A-BD17-2900-DB725DC931D2}"/>
                  </a:ext>
                </a:extLst>
              </p:cNvPr>
              <p:cNvSpPr txBox="1"/>
              <p:nvPr/>
            </p:nvSpPr>
            <p:spPr>
              <a:xfrm>
                <a:off x="326666" y="1557765"/>
                <a:ext cx="81785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SG" sz="700" b="1" dirty="0">
                    <a:solidFill>
                      <a:schemeClr val="accent2">
                        <a:lumMod val="50000"/>
                      </a:schemeClr>
                    </a:solidFill>
                  </a:rPr>
                  <a:t>Liquid  - Vapour</a:t>
                </a:r>
                <a:br>
                  <a:rPr lang="en-SG" sz="700" b="1" dirty="0">
                    <a:solidFill>
                      <a:schemeClr val="accent2">
                        <a:lumMod val="50000"/>
                      </a:schemeClr>
                    </a:solidFill>
                  </a:rPr>
                </a:br>
                <a:r>
                  <a:rPr lang="en-SG" sz="700" b="1" dirty="0">
                    <a:solidFill>
                      <a:schemeClr val="accent2">
                        <a:lumMod val="50000"/>
                      </a:schemeClr>
                    </a:solidFill>
                  </a:rPr>
                  <a:t> Mixture</a:t>
                </a:r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4F6E87A3-B210-3C27-76B9-7181C5782328}"/>
                  </a:ext>
                </a:extLst>
              </p:cNvPr>
              <p:cNvSpPr txBox="1"/>
              <p:nvPr/>
            </p:nvSpPr>
            <p:spPr>
              <a:xfrm>
                <a:off x="130575" y="3614590"/>
                <a:ext cx="113912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900" b="1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Inlet Plenum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9" name="TextBox 128">
                    <a:extLst>
                      <a:ext uri="{FF2B5EF4-FFF2-40B4-BE49-F238E27FC236}">
                        <a16:creationId xmlns:a16="http://schemas.microsoft.com/office/drawing/2014/main" id="{AFC65046-993B-9234-681B-2F767D89F399}"/>
                      </a:ext>
                    </a:extLst>
                  </p:cNvPr>
                  <p:cNvSpPr txBox="1"/>
                  <p:nvPr/>
                </p:nvSpPr>
                <p:spPr>
                  <a:xfrm>
                    <a:off x="1095586" y="3382731"/>
                    <a:ext cx="335797" cy="1538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SG" sz="1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  <m:r>
                            <a:rPr lang="en-SG" sz="1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SG" sz="1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oMath>
                      </m:oMathPara>
                    </a14:m>
                    <a:endParaRPr lang="en-SG" sz="1000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9" name="TextBox 128">
                    <a:extLst>
                      <a:ext uri="{FF2B5EF4-FFF2-40B4-BE49-F238E27FC236}">
                        <a16:creationId xmlns:a16="http://schemas.microsoft.com/office/drawing/2014/main" id="{AFC65046-993B-9234-681B-2F767D89F39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5586" y="3382731"/>
                    <a:ext cx="335797" cy="15388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7273" r="-9091" b="-3846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0" name="TextBox 129">
                    <a:extLst>
                      <a:ext uri="{FF2B5EF4-FFF2-40B4-BE49-F238E27FC236}">
                        <a16:creationId xmlns:a16="http://schemas.microsoft.com/office/drawing/2014/main" id="{48E1FF4E-DECB-3D6D-5C46-AE11FA1836A4}"/>
                      </a:ext>
                    </a:extLst>
                  </p:cNvPr>
                  <p:cNvSpPr txBox="1"/>
                  <p:nvPr/>
                </p:nvSpPr>
                <p:spPr>
                  <a:xfrm>
                    <a:off x="1081315" y="1392583"/>
                    <a:ext cx="335797" cy="1538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SG" sz="1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  <m:r>
                            <a:rPr lang="en-SG" sz="1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SG" sz="1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𝑳</m:t>
                          </m:r>
                        </m:oMath>
                      </m:oMathPara>
                    </a14:m>
                    <a:endParaRPr lang="en-SG" sz="1000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0" name="TextBox 129">
                    <a:extLst>
                      <a:ext uri="{FF2B5EF4-FFF2-40B4-BE49-F238E27FC236}">
                        <a16:creationId xmlns:a16="http://schemas.microsoft.com/office/drawing/2014/main" id="{48E1FF4E-DECB-3D6D-5C46-AE11FA1836A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1315" y="1392583"/>
                    <a:ext cx="335797" cy="15388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5455" r="-9091" b="-400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2BA2D4A1-6CB0-2F16-6E23-DA5728C033D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170120" y="1256126"/>
              <a:ext cx="718180" cy="1368000"/>
              <a:chOff x="2526597" y="1217946"/>
              <a:chExt cx="1504746" cy="2866263"/>
            </a:xfrm>
          </p:grpSpPr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19A7F344-E7FB-3DD9-03A7-D0CFE83757D0}"/>
                  </a:ext>
                </a:extLst>
              </p:cNvPr>
              <p:cNvSpPr/>
              <p:nvPr/>
            </p:nvSpPr>
            <p:spPr>
              <a:xfrm>
                <a:off x="2906232" y="1483077"/>
                <a:ext cx="718458" cy="189452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B5C6752F-CB15-203C-FC6E-3D0F40FF5A6A}"/>
                  </a:ext>
                </a:extLst>
              </p:cNvPr>
              <p:cNvSpPr/>
              <p:nvPr/>
            </p:nvSpPr>
            <p:spPr>
              <a:xfrm>
                <a:off x="2543375" y="1227193"/>
                <a:ext cx="1487968" cy="34480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E997273D-381E-9699-9EAE-9616C7B9993A}"/>
                  </a:ext>
                </a:extLst>
              </p:cNvPr>
              <p:cNvSpPr/>
              <p:nvPr/>
            </p:nvSpPr>
            <p:spPr>
              <a:xfrm>
                <a:off x="2526597" y="3724209"/>
                <a:ext cx="1479918" cy="360000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41CF1E37-A583-1B8A-2999-4232EC5A29DD}"/>
                  </a:ext>
                </a:extLst>
              </p:cNvPr>
              <p:cNvSpPr/>
              <p:nvPr/>
            </p:nvSpPr>
            <p:spPr>
              <a:xfrm>
                <a:off x="2906232" y="3377604"/>
                <a:ext cx="718458" cy="404661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D3A96DD5-477B-5DD9-B30F-CFFD52A7BFFA}"/>
                  </a:ext>
                </a:extLst>
              </p:cNvPr>
              <p:cNvSpPr/>
              <p:nvPr/>
            </p:nvSpPr>
            <p:spPr>
              <a:xfrm>
                <a:off x="2528931" y="1217946"/>
                <a:ext cx="1500078" cy="2865723"/>
              </a:xfrm>
              <a:custGeom>
                <a:avLst/>
                <a:gdLst>
                  <a:gd name="csX0" fmla="*/ 12109 w 1500078"/>
                  <a:gd name="csY0" fmla="*/ 0 h 2865723"/>
                  <a:gd name="csX1" fmla="*/ 1500078 w 1500078"/>
                  <a:gd name="csY1" fmla="*/ 0 h 2865723"/>
                  <a:gd name="csX2" fmla="*/ 1500078 w 1500078"/>
                  <a:gd name="csY2" fmla="*/ 360000 h 2865723"/>
                  <a:gd name="csX3" fmla="*/ 1095758 w 1500078"/>
                  <a:gd name="csY3" fmla="*/ 360000 h 2865723"/>
                  <a:gd name="csX4" fmla="*/ 1095758 w 1500078"/>
                  <a:gd name="csY4" fmla="*/ 2505723 h 2865723"/>
                  <a:gd name="csX5" fmla="*/ 1487969 w 1500078"/>
                  <a:gd name="csY5" fmla="*/ 2505723 h 2865723"/>
                  <a:gd name="csX6" fmla="*/ 1487969 w 1500078"/>
                  <a:gd name="csY6" fmla="*/ 2865723 h 2865723"/>
                  <a:gd name="csX7" fmla="*/ 0 w 1500078"/>
                  <a:gd name="csY7" fmla="*/ 2865723 h 2865723"/>
                  <a:gd name="csX8" fmla="*/ 0 w 1500078"/>
                  <a:gd name="csY8" fmla="*/ 2505723 h 2865723"/>
                  <a:gd name="csX9" fmla="*/ 372165 w 1500078"/>
                  <a:gd name="csY9" fmla="*/ 2505723 h 2865723"/>
                  <a:gd name="csX10" fmla="*/ 372165 w 1500078"/>
                  <a:gd name="csY10" fmla="*/ 360000 h 2865723"/>
                  <a:gd name="csX11" fmla="*/ 12109 w 1500078"/>
                  <a:gd name="csY11" fmla="*/ 360000 h 28657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1500078" h="2865723">
                    <a:moveTo>
                      <a:pt x="12109" y="0"/>
                    </a:moveTo>
                    <a:lnTo>
                      <a:pt x="1500078" y="0"/>
                    </a:lnTo>
                    <a:lnTo>
                      <a:pt x="1500078" y="360000"/>
                    </a:lnTo>
                    <a:lnTo>
                      <a:pt x="1095758" y="360000"/>
                    </a:lnTo>
                    <a:lnTo>
                      <a:pt x="1095758" y="2505723"/>
                    </a:lnTo>
                    <a:lnTo>
                      <a:pt x="1487969" y="2505723"/>
                    </a:lnTo>
                    <a:lnTo>
                      <a:pt x="1487969" y="2865723"/>
                    </a:lnTo>
                    <a:lnTo>
                      <a:pt x="0" y="2865723"/>
                    </a:lnTo>
                    <a:lnTo>
                      <a:pt x="0" y="2505723"/>
                    </a:lnTo>
                    <a:lnTo>
                      <a:pt x="372165" y="2505723"/>
                    </a:lnTo>
                    <a:lnTo>
                      <a:pt x="372165" y="360000"/>
                    </a:lnTo>
                    <a:lnTo>
                      <a:pt x="12109" y="3600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SG" dirty="0"/>
              </a:p>
            </p:txBody>
          </p:sp>
        </p:grp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432047F7-08B3-3B43-4CFF-3CD5612CF92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160720" y="1256126"/>
              <a:ext cx="718180" cy="1368000"/>
              <a:chOff x="2526597" y="1217946"/>
              <a:chExt cx="1504746" cy="2866263"/>
            </a:xfrm>
          </p:grpSpPr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6D4A491D-CC74-2F4D-DCAC-5B39B1735F10}"/>
                  </a:ext>
                </a:extLst>
              </p:cNvPr>
              <p:cNvSpPr/>
              <p:nvPr/>
            </p:nvSpPr>
            <p:spPr>
              <a:xfrm>
                <a:off x="2906232" y="1483078"/>
                <a:ext cx="718458" cy="134079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3675419E-C3E6-3343-CD55-A84E1A531663}"/>
                  </a:ext>
                </a:extLst>
              </p:cNvPr>
              <p:cNvSpPr/>
              <p:nvPr/>
            </p:nvSpPr>
            <p:spPr>
              <a:xfrm>
                <a:off x="2543375" y="1227193"/>
                <a:ext cx="1487968" cy="34480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DF8271F3-B822-5073-E274-2983D05C8CD4}"/>
                  </a:ext>
                </a:extLst>
              </p:cNvPr>
              <p:cNvSpPr/>
              <p:nvPr/>
            </p:nvSpPr>
            <p:spPr>
              <a:xfrm>
                <a:off x="2526597" y="3724209"/>
                <a:ext cx="1479918" cy="360000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3CA50BFE-AD59-517F-D9D0-C27440EFF539}"/>
                  </a:ext>
                </a:extLst>
              </p:cNvPr>
              <p:cNvSpPr/>
              <p:nvPr/>
            </p:nvSpPr>
            <p:spPr>
              <a:xfrm>
                <a:off x="2906232" y="1959759"/>
                <a:ext cx="718458" cy="1822507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6271BB3-93C8-9ED6-10A5-D955491CB96B}"/>
                  </a:ext>
                </a:extLst>
              </p:cNvPr>
              <p:cNvSpPr/>
              <p:nvPr/>
            </p:nvSpPr>
            <p:spPr>
              <a:xfrm>
                <a:off x="2528931" y="1217946"/>
                <a:ext cx="1500078" cy="2865723"/>
              </a:xfrm>
              <a:custGeom>
                <a:avLst/>
                <a:gdLst>
                  <a:gd name="csX0" fmla="*/ 12109 w 1500078"/>
                  <a:gd name="csY0" fmla="*/ 0 h 2865723"/>
                  <a:gd name="csX1" fmla="*/ 1500078 w 1500078"/>
                  <a:gd name="csY1" fmla="*/ 0 h 2865723"/>
                  <a:gd name="csX2" fmla="*/ 1500078 w 1500078"/>
                  <a:gd name="csY2" fmla="*/ 360000 h 2865723"/>
                  <a:gd name="csX3" fmla="*/ 1095758 w 1500078"/>
                  <a:gd name="csY3" fmla="*/ 360000 h 2865723"/>
                  <a:gd name="csX4" fmla="*/ 1095758 w 1500078"/>
                  <a:gd name="csY4" fmla="*/ 2505723 h 2865723"/>
                  <a:gd name="csX5" fmla="*/ 1487969 w 1500078"/>
                  <a:gd name="csY5" fmla="*/ 2505723 h 2865723"/>
                  <a:gd name="csX6" fmla="*/ 1487969 w 1500078"/>
                  <a:gd name="csY6" fmla="*/ 2865723 h 2865723"/>
                  <a:gd name="csX7" fmla="*/ 0 w 1500078"/>
                  <a:gd name="csY7" fmla="*/ 2865723 h 2865723"/>
                  <a:gd name="csX8" fmla="*/ 0 w 1500078"/>
                  <a:gd name="csY8" fmla="*/ 2505723 h 2865723"/>
                  <a:gd name="csX9" fmla="*/ 372165 w 1500078"/>
                  <a:gd name="csY9" fmla="*/ 2505723 h 2865723"/>
                  <a:gd name="csX10" fmla="*/ 372165 w 1500078"/>
                  <a:gd name="csY10" fmla="*/ 360000 h 2865723"/>
                  <a:gd name="csX11" fmla="*/ 12109 w 1500078"/>
                  <a:gd name="csY11" fmla="*/ 360000 h 28657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1500078" h="2865723">
                    <a:moveTo>
                      <a:pt x="12109" y="0"/>
                    </a:moveTo>
                    <a:lnTo>
                      <a:pt x="1500078" y="0"/>
                    </a:lnTo>
                    <a:lnTo>
                      <a:pt x="1500078" y="360000"/>
                    </a:lnTo>
                    <a:lnTo>
                      <a:pt x="1095758" y="360000"/>
                    </a:lnTo>
                    <a:lnTo>
                      <a:pt x="1095758" y="2505723"/>
                    </a:lnTo>
                    <a:lnTo>
                      <a:pt x="1487969" y="2505723"/>
                    </a:lnTo>
                    <a:lnTo>
                      <a:pt x="1487969" y="2865723"/>
                    </a:lnTo>
                    <a:lnTo>
                      <a:pt x="0" y="2865723"/>
                    </a:lnTo>
                    <a:lnTo>
                      <a:pt x="0" y="2505723"/>
                    </a:lnTo>
                    <a:lnTo>
                      <a:pt x="372165" y="2505723"/>
                    </a:lnTo>
                    <a:lnTo>
                      <a:pt x="372165" y="360000"/>
                    </a:lnTo>
                    <a:lnTo>
                      <a:pt x="12109" y="3600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SG" dirty="0"/>
              </a:p>
            </p:txBody>
          </p:sp>
        </p:grp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3F88FDF0-D3A8-499B-FCCC-266C92063C4F}"/>
                </a:ext>
              </a:extLst>
            </p:cNvPr>
            <p:cNvCxnSpPr>
              <a:cxnSpLocks/>
            </p:cNvCxnSpPr>
            <p:nvPr/>
          </p:nvCxnSpPr>
          <p:spPr>
            <a:xfrm>
              <a:off x="3351311" y="2294112"/>
              <a:ext cx="342903" cy="0"/>
            </a:xfrm>
            <a:prstGeom prst="line">
              <a:avLst/>
            </a:prstGeom>
            <a:ln>
              <a:solidFill>
                <a:schemeClr val="accent2">
                  <a:lumMod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Arrow: Right 161">
              <a:extLst>
                <a:ext uri="{FF2B5EF4-FFF2-40B4-BE49-F238E27FC236}">
                  <a16:creationId xmlns:a16="http://schemas.microsoft.com/office/drawing/2014/main" id="{2ADCFB33-C077-7BC7-1461-BE4C91B7DB83}"/>
                </a:ext>
              </a:extLst>
            </p:cNvPr>
            <p:cNvSpPr/>
            <p:nvPr/>
          </p:nvSpPr>
          <p:spPr>
            <a:xfrm rot="16200000">
              <a:off x="3459545" y="2426086"/>
              <a:ext cx="126433" cy="45719"/>
            </a:xfrm>
            <a:prstGeom prst="rightArrow">
              <a:avLst>
                <a:gd name="adj1" fmla="val 50000"/>
                <a:gd name="adj2" fmla="val 102038"/>
              </a:avLst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1EABB6EA-B152-FD8A-D956-23CBCC2E45C2}"/>
                </a:ext>
              </a:extLst>
            </p:cNvPr>
            <p:cNvGrpSpPr/>
            <p:nvPr/>
          </p:nvGrpSpPr>
          <p:grpSpPr>
            <a:xfrm>
              <a:off x="3390710" y="1497296"/>
              <a:ext cx="276999" cy="744515"/>
              <a:chOff x="2792982" y="1508375"/>
              <a:chExt cx="276999" cy="744515"/>
            </a:xfrm>
          </p:grpSpPr>
          <p:sp>
            <p:nvSpPr>
              <p:cNvPr id="158" name="Rectangle: Rounded Corners 157">
                <a:extLst>
                  <a:ext uri="{FF2B5EF4-FFF2-40B4-BE49-F238E27FC236}">
                    <a16:creationId xmlns:a16="http://schemas.microsoft.com/office/drawing/2014/main" id="{C1E3000C-E795-0EAA-D460-E5A3FF25A63F}"/>
                  </a:ext>
                </a:extLst>
              </p:cNvPr>
              <p:cNvSpPr/>
              <p:nvPr/>
            </p:nvSpPr>
            <p:spPr>
              <a:xfrm>
                <a:off x="2800779" y="1508375"/>
                <a:ext cx="248510" cy="744515"/>
              </a:xfrm>
              <a:prstGeom prst="roundRect">
                <a:avLst>
                  <a:gd name="adj" fmla="val 28165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D1001556-D1BD-F42A-45FC-A7AE8718668C}"/>
                  </a:ext>
                </a:extLst>
              </p:cNvPr>
              <p:cNvSpPr txBox="1"/>
              <p:nvPr/>
            </p:nvSpPr>
            <p:spPr>
              <a:xfrm rot="16200000">
                <a:off x="2612324" y="1755919"/>
                <a:ext cx="63831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SG" sz="600" b="1" dirty="0"/>
                  <a:t>Vapour Lock </a:t>
                </a:r>
                <a:br>
                  <a:rPr lang="en-SG" sz="600" b="1" dirty="0"/>
                </a:br>
                <a:r>
                  <a:rPr lang="en-SG" sz="600" b="1" dirty="0"/>
                  <a:t> Dry out</a:t>
                </a:r>
              </a:p>
            </p:txBody>
          </p:sp>
        </p:grpSp>
        <p:sp>
          <p:nvSpPr>
            <p:cNvPr id="166" name="Arrow: Right 165">
              <a:extLst>
                <a:ext uri="{FF2B5EF4-FFF2-40B4-BE49-F238E27FC236}">
                  <a16:creationId xmlns:a16="http://schemas.microsoft.com/office/drawing/2014/main" id="{C018B260-DA02-B0CE-D05B-9B8273835A98}"/>
                </a:ext>
              </a:extLst>
            </p:cNvPr>
            <p:cNvSpPr/>
            <p:nvPr/>
          </p:nvSpPr>
          <p:spPr>
            <a:xfrm rot="16200000">
              <a:off x="3459544" y="1378430"/>
              <a:ext cx="126433" cy="45719"/>
            </a:xfrm>
            <a:prstGeom prst="rightArrow">
              <a:avLst>
                <a:gd name="adj1" fmla="val 50000"/>
                <a:gd name="adj2" fmla="val 102038"/>
              </a:avLst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sp>
          <p:nvSpPr>
            <p:cNvPr id="169" name="Rectangle: Rounded Corners 168">
              <a:extLst>
                <a:ext uri="{FF2B5EF4-FFF2-40B4-BE49-F238E27FC236}">
                  <a16:creationId xmlns:a16="http://schemas.microsoft.com/office/drawing/2014/main" id="{47A4AF90-1AEA-464C-985B-7964E27D1B9A}"/>
                </a:ext>
              </a:extLst>
            </p:cNvPr>
            <p:cNvSpPr/>
            <p:nvPr/>
          </p:nvSpPr>
          <p:spPr>
            <a:xfrm>
              <a:off x="4389107" y="1653562"/>
              <a:ext cx="248510" cy="744515"/>
            </a:xfrm>
            <a:prstGeom prst="roundRect">
              <a:avLst>
                <a:gd name="adj" fmla="val 28165"/>
              </a:avLst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99F3CF86-28E7-D16F-EC30-C0F5F7DE6843}"/>
                </a:ext>
              </a:extLst>
            </p:cNvPr>
            <p:cNvSpPr txBox="1"/>
            <p:nvPr/>
          </p:nvSpPr>
          <p:spPr>
            <a:xfrm rot="16200000">
              <a:off x="4072375" y="1884226"/>
              <a:ext cx="88197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SG" sz="600" b="1" dirty="0"/>
                <a:t>Liquid Column Rise </a:t>
              </a:r>
              <a:br>
                <a:rPr lang="en-SG" sz="600" b="1" dirty="0"/>
              </a:br>
              <a:r>
                <a:rPr lang="en-SG" sz="600" b="1" dirty="0"/>
                <a:t>Less boiling</a:t>
              </a:r>
            </a:p>
          </p:txBody>
        </p: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79BBADD2-390C-B7A1-F534-9E90ADC2CFD2}"/>
                </a:ext>
              </a:extLst>
            </p:cNvPr>
            <p:cNvCxnSpPr>
              <a:cxnSpLocks/>
            </p:cNvCxnSpPr>
            <p:nvPr/>
          </p:nvCxnSpPr>
          <p:spPr>
            <a:xfrm>
              <a:off x="4347531" y="1605554"/>
              <a:ext cx="342903" cy="0"/>
            </a:xfrm>
            <a:prstGeom prst="line">
              <a:avLst/>
            </a:prstGeom>
            <a:ln>
              <a:solidFill>
                <a:schemeClr val="accent2">
                  <a:lumMod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Arrow: Right 172">
              <a:extLst>
                <a:ext uri="{FF2B5EF4-FFF2-40B4-BE49-F238E27FC236}">
                  <a16:creationId xmlns:a16="http://schemas.microsoft.com/office/drawing/2014/main" id="{2B642126-6772-730A-C0C6-4AEB1849E6F9}"/>
                </a:ext>
              </a:extLst>
            </p:cNvPr>
            <p:cNvSpPr/>
            <p:nvPr/>
          </p:nvSpPr>
          <p:spPr>
            <a:xfrm rot="16200000">
              <a:off x="4450144" y="2458543"/>
              <a:ext cx="126433" cy="45719"/>
            </a:xfrm>
            <a:prstGeom prst="rightArrow">
              <a:avLst>
                <a:gd name="adj1" fmla="val 50000"/>
                <a:gd name="adj2" fmla="val 102038"/>
              </a:avLst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sp>
          <p:nvSpPr>
            <p:cNvPr id="175" name="Arrow: Right 174">
              <a:extLst>
                <a:ext uri="{FF2B5EF4-FFF2-40B4-BE49-F238E27FC236}">
                  <a16:creationId xmlns:a16="http://schemas.microsoft.com/office/drawing/2014/main" id="{7287EF58-D01E-AE51-6661-3D176CFF0F68}"/>
                </a:ext>
              </a:extLst>
            </p:cNvPr>
            <p:cNvSpPr/>
            <p:nvPr/>
          </p:nvSpPr>
          <p:spPr>
            <a:xfrm rot="16200000">
              <a:off x="4456593" y="1380896"/>
              <a:ext cx="126433" cy="45719"/>
            </a:xfrm>
            <a:prstGeom prst="rightArrow">
              <a:avLst>
                <a:gd name="adj1" fmla="val 50000"/>
                <a:gd name="adj2" fmla="val 102038"/>
              </a:avLst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sp>
          <p:nvSpPr>
            <p:cNvPr id="176" name="Arrow: Circular 175">
              <a:extLst>
                <a:ext uri="{FF2B5EF4-FFF2-40B4-BE49-F238E27FC236}">
                  <a16:creationId xmlns:a16="http://schemas.microsoft.com/office/drawing/2014/main" id="{B06731D4-EBEE-68B0-D218-4977FFE5331E}"/>
                </a:ext>
              </a:extLst>
            </p:cNvPr>
            <p:cNvSpPr/>
            <p:nvPr/>
          </p:nvSpPr>
          <p:spPr>
            <a:xfrm rot="20695793">
              <a:off x="3691584" y="1510625"/>
              <a:ext cx="591756" cy="485584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3608437"/>
                <a:gd name="adj5" fmla="val 16062"/>
              </a:avLst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solidFill>
                  <a:schemeClr val="tx1"/>
                </a:solidFill>
              </a:endParaRPr>
            </a:p>
          </p:txBody>
        </p:sp>
        <p:sp>
          <p:nvSpPr>
            <p:cNvPr id="178" name="Arrow: Circular 177">
              <a:extLst>
                <a:ext uri="{FF2B5EF4-FFF2-40B4-BE49-F238E27FC236}">
                  <a16:creationId xmlns:a16="http://schemas.microsoft.com/office/drawing/2014/main" id="{D1386491-8E87-29BE-59C4-C047797CEC92}"/>
                </a:ext>
              </a:extLst>
            </p:cNvPr>
            <p:cNvSpPr/>
            <p:nvPr/>
          </p:nvSpPr>
          <p:spPr>
            <a:xfrm rot="20695793" flipH="1" flipV="1">
              <a:off x="3767854" y="1823612"/>
              <a:ext cx="591756" cy="485584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3608437"/>
                <a:gd name="adj5" fmla="val 16062"/>
              </a:avLst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solidFill>
                  <a:schemeClr val="tx1"/>
                </a:solidFill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7C35FF9D-AA1C-C0EB-2B7E-D4DE22EEEABC}"/>
                </a:ext>
              </a:extLst>
            </p:cNvPr>
            <p:cNvSpPr txBox="1"/>
            <p:nvPr/>
          </p:nvSpPr>
          <p:spPr>
            <a:xfrm>
              <a:off x="3731245" y="1761519"/>
              <a:ext cx="5854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SG" sz="700" b="1" dirty="0"/>
                <a:t>Flow Rate</a:t>
              </a:r>
              <a:br>
                <a:rPr lang="en-SG" sz="700" b="1" dirty="0"/>
              </a:br>
              <a:r>
                <a:rPr lang="en-SG" sz="700" b="1" dirty="0"/>
                <a:t>Jump</a:t>
              </a:r>
            </a:p>
          </p:txBody>
        </p:sp>
        <p:sp>
          <p:nvSpPr>
            <p:cNvPr id="194" name="Arrow: Right 193">
              <a:extLst>
                <a:ext uri="{FF2B5EF4-FFF2-40B4-BE49-F238E27FC236}">
                  <a16:creationId xmlns:a16="http://schemas.microsoft.com/office/drawing/2014/main" id="{00F3622A-7624-8482-4D7D-B8F3FA1CBAE9}"/>
                </a:ext>
              </a:extLst>
            </p:cNvPr>
            <p:cNvSpPr/>
            <p:nvPr/>
          </p:nvSpPr>
          <p:spPr>
            <a:xfrm rot="16200000">
              <a:off x="3456457" y="3933232"/>
              <a:ext cx="126433" cy="45719"/>
            </a:xfrm>
            <a:prstGeom prst="rightArrow">
              <a:avLst>
                <a:gd name="adj1" fmla="val 50000"/>
                <a:gd name="adj2" fmla="val 102038"/>
              </a:avLst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sp>
          <p:nvSpPr>
            <p:cNvPr id="198" name="Arrow: Right 197">
              <a:extLst>
                <a:ext uri="{FF2B5EF4-FFF2-40B4-BE49-F238E27FC236}">
                  <a16:creationId xmlns:a16="http://schemas.microsoft.com/office/drawing/2014/main" id="{77F40A8F-CCA2-FB4D-0AAD-4130F109ABBC}"/>
                </a:ext>
              </a:extLst>
            </p:cNvPr>
            <p:cNvSpPr/>
            <p:nvPr/>
          </p:nvSpPr>
          <p:spPr>
            <a:xfrm rot="16200000">
              <a:off x="3456456" y="2885576"/>
              <a:ext cx="126433" cy="45719"/>
            </a:xfrm>
            <a:prstGeom prst="rightArrow">
              <a:avLst>
                <a:gd name="adj1" fmla="val 50000"/>
                <a:gd name="adj2" fmla="val 102038"/>
              </a:avLst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sp>
          <p:nvSpPr>
            <p:cNvPr id="204" name="Arrow: Circular 203">
              <a:extLst>
                <a:ext uri="{FF2B5EF4-FFF2-40B4-BE49-F238E27FC236}">
                  <a16:creationId xmlns:a16="http://schemas.microsoft.com/office/drawing/2014/main" id="{364011D1-26E8-C347-8DC9-CBF29980FF05}"/>
                </a:ext>
              </a:extLst>
            </p:cNvPr>
            <p:cNvSpPr/>
            <p:nvPr/>
          </p:nvSpPr>
          <p:spPr>
            <a:xfrm rot="20695793">
              <a:off x="3688496" y="3017771"/>
              <a:ext cx="591756" cy="485584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3608437"/>
                <a:gd name="adj5" fmla="val 16062"/>
              </a:avLst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solidFill>
                  <a:schemeClr val="tx1"/>
                </a:solidFill>
              </a:endParaRPr>
            </a:p>
          </p:txBody>
        </p:sp>
        <p:sp>
          <p:nvSpPr>
            <p:cNvPr id="205" name="Arrow: Circular 204">
              <a:extLst>
                <a:ext uri="{FF2B5EF4-FFF2-40B4-BE49-F238E27FC236}">
                  <a16:creationId xmlns:a16="http://schemas.microsoft.com/office/drawing/2014/main" id="{B5F387D9-018F-EBA5-4319-9DE271BAAA01}"/>
                </a:ext>
              </a:extLst>
            </p:cNvPr>
            <p:cNvSpPr/>
            <p:nvPr/>
          </p:nvSpPr>
          <p:spPr>
            <a:xfrm rot="20695793" flipH="1" flipV="1">
              <a:off x="3764766" y="3330758"/>
              <a:ext cx="591756" cy="485584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3608437"/>
                <a:gd name="adj5" fmla="val 16062"/>
              </a:avLst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solidFill>
                  <a:schemeClr val="tx1"/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4B85D433-A793-238A-11B1-EE42314EA7EE}"/>
                </a:ext>
              </a:extLst>
            </p:cNvPr>
            <p:cNvSpPr txBox="1"/>
            <p:nvPr/>
          </p:nvSpPr>
          <p:spPr>
            <a:xfrm>
              <a:off x="3693468" y="3309814"/>
              <a:ext cx="65594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SG" sz="700" b="1" dirty="0"/>
                <a:t>Oscillation</a:t>
              </a: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58A5A826-E739-C8F1-275B-4EB98221AEBF}"/>
                </a:ext>
              </a:extLst>
            </p:cNvPr>
            <p:cNvSpPr txBox="1"/>
            <p:nvPr/>
          </p:nvSpPr>
          <p:spPr>
            <a:xfrm>
              <a:off x="3351311" y="3764051"/>
              <a:ext cx="330540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400" b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Liquid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F539F6D2-73A5-DFAB-80B7-2F772654B845}"/>
                </a:ext>
              </a:extLst>
            </p:cNvPr>
            <p:cNvSpPr txBox="1"/>
            <p:nvPr/>
          </p:nvSpPr>
          <p:spPr>
            <a:xfrm>
              <a:off x="3348830" y="3621343"/>
              <a:ext cx="35458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400" b="1" dirty="0">
                  <a:solidFill>
                    <a:schemeClr val="accent2">
                      <a:lumMod val="50000"/>
                    </a:schemeClr>
                  </a:solidFill>
                </a:rPr>
                <a:t>Vapour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28E4008C-A3F2-9E37-091F-343E99DD3443}"/>
                </a:ext>
              </a:extLst>
            </p:cNvPr>
            <p:cNvSpPr txBox="1"/>
            <p:nvPr/>
          </p:nvSpPr>
          <p:spPr>
            <a:xfrm>
              <a:off x="3363939" y="3425425"/>
              <a:ext cx="330540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400" b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Liquid</a:t>
              </a: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2DD87781-5352-C4A9-9532-4D63D3E4FDB0}"/>
                </a:ext>
              </a:extLst>
            </p:cNvPr>
            <p:cNvSpPr txBox="1"/>
            <p:nvPr/>
          </p:nvSpPr>
          <p:spPr>
            <a:xfrm>
              <a:off x="3345545" y="3251963"/>
              <a:ext cx="35458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400" b="1" dirty="0">
                  <a:solidFill>
                    <a:schemeClr val="accent2">
                      <a:lumMod val="50000"/>
                    </a:schemeClr>
                  </a:solidFill>
                </a:rPr>
                <a:t>Vapour</a:t>
              </a: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762EE184-2274-F301-284A-5511B0C02702}"/>
                </a:ext>
              </a:extLst>
            </p:cNvPr>
            <p:cNvSpPr txBox="1"/>
            <p:nvPr/>
          </p:nvSpPr>
          <p:spPr>
            <a:xfrm>
              <a:off x="3351311" y="3080360"/>
              <a:ext cx="330540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400" b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Liquid</a:t>
              </a:r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DD85F00A-D09E-99F8-FB82-5F4151BE8631}"/>
                </a:ext>
              </a:extLst>
            </p:cNvPr>
            <p:cNvSpPr txBox="1"/>
            <p:nvPr/>
          </p:nvSpPr>
          <p:spPr>
            <a:xfrm>
              <a:off x="3345539" y="2929838"/>
              <a:ext cx="35458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400" b="1" dirty="0">
                  <a:solidFill>
                    <a:schemeClr val="accent2">
                      <a:lumMod val="50000"/>
                    </a:schemeClr>
                  </a:solidFill>
                </a:rPr>
                <a:t>Vapour</a:t>
              </a:r>
            </a:p>
          </p:txBody>
        </p:sp>
        <p:sp>
          <p:nvSpPr>
            <p:cNvPr id="235" name="Arrow: Right 234">
              <a:extLst>
                <a:ext uri="{FF2B5EF4-FFF2-40B4-BE49-F238E27FC236}">
                  <a16:creationId xmlns:a16="http://schemas.microsoft.com/office/drawing/2014/main" id="{12193AD9-47C1-F1A6-1DF5-63091ECF4196}"/>
                </a:ext>
              </a:extLst>
            </p:cNvPr>
            <p:cNvSpPr/>
            <p:nvPr/>
          </p:nvSpPr>
          <p:spPr>
            <a:xfrm rot="16200000">
              <a:off x="4450145" y="3938685"/>
              <a:ext cx="126433" cy="45719"/>
            </a:xfrm>
            <a:prstGeom prst="rightArrow">
              <a:avLst>
                <a:gd name="adj1" fmla="val 50000"/>
                <a:gd name="adj2" fmla="val 102038"/>
              </a:avLst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sp>
          <p:nvSpPr>
            <p:cNvPr id="236" name="Arrow: Right 235">
              <a:extLst>
                <a:ext uri="{FF2B5EF4-FFF2-40B4-BE49-F238E27FC236}">
                  <a16:creationId xmlns:a16="http://schemas.microsoft.com/office/drawing/2014/main" id="{45AE36E9-4064-7289-DEE3-38E0AD0715F7}"/>
                </a:ext>
              </a:extLst>
            </p:cNvPr>
            <p:cNvSpPr/>
            <p:nvPr/>
          </p:nvSpPr>
          <p:spPr>
            <a:xfrm rot="16200000">
              <a:off x="4450144" y="2891029"/>
              <a:ext cx="126433" cy="45719"/>
            </a:xfrm>
            <a:prstGeom prst="rightArrow">
              <a:avLst>
                <a:gd name="adj1" fmla="val 50000"/>
                <a:gd name="adj2" fmla="val 102038"/>
              </a:avLst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3E38A202-050E-3780-599F-B45FC9587614}"/>
                </a:ext>
              </a:extLst>
            </p:cNvPr>
            <p:cNvSpPr txBox="1"/>
            <p:nvPr/>
          </p:nvSpPr>
          <p:spPr>
            <a:xfrm>
              <a:off x="4358544" y="3624693"/>
              <a:ext cx="330540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400" b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Liquid</a:t>
              </a:r>
            </a:p>
          </p:txBody>
        </p: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A807FC28-9B68-FC15-5CDE-DF5EA12C15EC}"/>
                </a:ext>
              </a:extLst>
            </p:cNvPr>
            <p:cNvSpPr txBox="1"/>
            <p:nvPr/>
          </p:nvSpPr>
          <p:spPr>
            <a:xfrm>
              <a:off x="4345408" y="3268463"/>
              <a:ext cx="330540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400" b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Liquid</a:t>
              </a:r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3B03B9CE-432C-1F08-56A1-01B79DE3E620}"/>
                </a:ext>
              </a:extLst>
            </p:cNvPr>
            <p:cNvSpPr txBox="1"/>
            <p:nvPr/>
          </p:nvSpPr>
          <p:spPr>
            <a:xfrm>
              <a:off x="4339732" y="2932251"/>
              <a:ext cx="330540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400" b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Liquid</a:t>
              </a:r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40829B5B-538B-B7D9-2414-5F8C22DE26A6}"/>
                </a:ext>
              </a:extLst>
            </p:cNvPr>
            <p:cNvSpPr txBox="1"/>
            <p:nvPr/>
          </p:nvSpPr>
          <p:spPr>
            <a:xfrm>
              <a:off x="4339732" y="3781424"/>
              <a:ext cx="35458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400" b="1" dirty="0">
                  <a:solidFill>
                    <a:schemeClr val="accent2">
                      <a:lumMod val="50000"/>
                    </a:schemeClr>
                  </a:solidFill>
                </a:rPr>
                <a:t>Vapour</a:t>
              </a:r>
            </a:p>
          </p:txBody>
        </p: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B3576E30-2EB8-81AF-EF5D-D77CCFB1FAD4}"/>
                </a:ext>
              </a:extLst>
            </p:cNvPr>
            <p:cNvSpPr txBox="1"/>
            <p:nvPr/>
          </p:nvSpPr>
          <p:spPr>
            <a:xfrm>
              <a:off x="4338898" y="3441212"/>
              <a:ext cx="35458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400" b="1" dirty="0">
                  <a:solidFill>
                    <a:schemeClr val="accent2">
                      <a:lumMod val="50000"/>
                    </a:schemeClr>
                  </a:solidFill>
                </a:rPr>
                <a:t>Vapour</a:t>
              </a:r>
            </a:p>
          </p:txBody>
        </p: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77EA7229-424B-FE49-351A-DA4A558EF118}"/>
                </a:ext>
              </a:extLst>
            </p:cNvPr>
            <p:cNvSpPr txBox="1"/>
            <p:nvPr/>
          </p:nvSpPr>
          <p:spPr>
            <a:xfrm>
              <a:off x="4342073" y="3077295"/>
              <a:ext cx="35458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400" b="1" dirty="0">
                  <a:solidFill>
                    <a:schemeClr val="accent2">
                      <a:lumMod val="50000"/>
                    </a:schemeClr>
                  </a:solidFill>
                </a:rPr>
                <a:t>Vapour</a:t>
              </a:r>
            </a:p>
          </p:txBody>
        </p:sp>
        <p:cxnSp>
          <p:nvCxnSpPr>
            <p:cNvPr id="255" name="Connector: Curved 254">
              <a:extLst>
                <a:ext uri="{FF2B5EF4-FFF2-40B4-BE49-F238E27FC236}">
                  <a16:creationId xmlns:a16="http://schemas.microsoft.com/office/drawing/2014/main" id="{E654ACCE-04B0-D804-E2C5-0C7C3B6D01EA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3316394" y="3016270"/>
              <a:ext cx="5772" cy="834213"/>
            </a:xfrm>
            <a:prstGeom prst="curvedConnector3">
              <a:avLst>
                <a:gd name="adj1" fmla="val -5720721"/>
              </a:avLst>
            </a:prstGeom>
            <a:ln w="9525">
              <a:solidFill>
                <a:srgbClr val="FF0000"/>
              </a:solidFill>
              <a:headEnd type="triangle" w="sm" len="med"/>
              <a:tailEnd type="triangl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8F70AD48-0A34-55BA-0940-2199C24893BB}"/>
                </a:ext>
              </a:extLst>
            </p:cNvPr>
            <p:cNvSpPr txBox="1"/>
            <p:nvPr/>
          </p:nvSpPr>
          <p:spPr>
            <a:xfrm rot="16200000">
              <a:off x="2749531" y="3282188"/>
              <a:ext cx="8226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SG" sz="700" b="1" dirty="0"/>
                <a:t>Sustained </a:t>
              </a:r>
              <a:br>
                <a:rPr lang="en-SG" sz="700" b="1" dirty="0"/>
              </a:br>
              <a:r>
                <a:rPr lang="en-SG" sz="700" b="1" dirty="0"/>
                <a:t>Feed back Loop</a:t>
              </a:r>
            </a:p>
          </p:txBody>
        </p:sp>
        <p:sp>
          <p:nvSpPr>
            <p:cNvPr id="269" name="Flowchart: Process 268">
              <a:extLst>
                <a:ext uri="{FF2B5EF4-FFF2-40B4-BE49-F238E27FC236}">
                  <a16:creationId xmlns:a16="http://schemas.microsoft.com/office/drawing/2014/main" id="{9A45E187-9BF8-D984-576A-525622ADA10A}"/>
                </a:ext>
              </a:extLst>
            </p:cNvPr>
            <p:cNvSpPr/>
            <p:nvPr/>
          </p:nvSpPr>
          <p:spPr>
            <a:xfrm>
              <a:off x="941118" y="1197428"/>
              <a:ext cx="375092" cy="3018971"/>
            </a:xfrm>
            <a:prstGeom prst="flowChartProcess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3F12F85A-9026-DEEB-476E-729946C33FAA}"/>
                </a:ext>
              </a:extLst>
            </p:cNvPr>
            <p:cNvSpPr txBox="1"/>
            <p:nvPr/>
          </p:nvSpPr>
          <p:spPr>
            <a:xfrm rot="16200000">
              <a:off x="-377602" y="2591499"/>
              <a:ext cx="301897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900" b="1" dirty="0"/>
                <a:t>Base Two Phase Flow Channel – Flow Boiling</a:t>
              </a:r>
            </a:p>
          </p:txBody>
        </p:sp>
        <p:sp>
          <p:nvSpPr>
            <p:cNvPr id="275" name="Flowchart: Process 274">
              <a:extLst>
                <a:ext uri="{FF2B5EF4-FFF2-40B4-BE49-F238E27FC236}">
                  <a16:creationId xmlns:a16="http://schemas.microsoft.com/office/drawing/2014/main" id="{757E3208-DFB8-3F15-C741-B6BF13B2C6C6}"/>
                </a:ext>
              </a:extLst>
            </p:cNvPr>
            <p:cNvSpPr/>
            <p:nvPr/>
          </p:nvSpPr>
          <p:spPr>
            <a:xfrm>
              <a:off x="4996250" y="1194841"/>
              <a:ext cx="321922" cy="1504815"/>
            </a:xfrm>
            <a:prstGeom prst="flowChartProcess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A2C47CDB-7FBD-DBD2-1C95-C9C6C5706915}"/>
                </a:ext>
              </a:extLst>
            </p:cNvPr>
            <p:cNvSpPr txBox="1"/>
            <p:nvPr/>
          </p:nvSpPr>
          <p:spPr>
            <a:xfrm rot="16200000">
              <a:off x="4345760" y="1826407"/>
              <a:ext cx="158205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900" b="1" dirty="0"/>
                <a:t>Static Ledinegg Instability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8789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1" name="Group 2520">
            <a:extLst>
              <a:ext uri="{FF2B5EF4-FFF2-40B4-BE49-F238E27FC236}">
                <a16:creationId xmlns:a16="http://schemas.microsoft.com/office/drawing/2014/main" id="{707B8630-2557-CF36-C264-14F29576427A}"/>
              </a:ext>
            </a:extLst>
          </p:cNvPr>
          <p:cNvGrpSpPr/>
          <p:nvPr/>
        </p:nvGrpSpPr>
        <p:grpSpPr>
          <a:xfrm>
            <a:off x="2476696" y="0"/>
            <a:ext cx="4647807" cy="5400675"/>
            <a:chOff x="2476696" y="0"/>
            <a:chExt cx="4647807" cy="5400675"/>
          </a:xfrm>
        </p:grpSpPr>
        <p:pic>
          <p:nvPicPr>
            <p:cNvPr id="2387" name="Graphic 2386">
              <a:extLst>
                <a:ext uri="{FF2B5EF4-FFF2-40B4-BE49-F238E27FC236}">
                  <a16:creationId xmlns:a16="http://schemas.microsoft.com/office/drawing/2014/main" id="{73F86B5C-84B1-14F6-B5C4-48C5A7BD84E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76696" y="0"/>
              <a:ext cx="4647807" cy="5400675"/>
            </a:xfrm>
            <a:prstGeom prst="rect">
              <a:avLst/>
            </a:prstGeom>
          </p:spPr>
        </p:pic>
        <p:pic>
          <p:nvPicPr>
            <p:cNvPr id="2520" name="Graphic 2519">
              <a:extLst>
                <a:ext uri="{FF2B5EF4-FFF2-40B4-BE49-F238E27FC236}">
                  <a16:creationId xmlns:a16="http://schemas.microsoft.com/office/drawing/2014/main" id="{5EBA8F40-ED62-CCF7-1059-5C84C8A75FD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621692" y="167640"/>
              <a:ext cx="2178908" cy="1524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2141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4BD49-4AFE-1722-7F07-E4E38634B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6DA33-BEBA-6B1A-D483-C853E7B06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30290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7931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3568</TotalTime>
  <Words>81</Words>
  <Application>Microsoft Office PowerPoint</Application>
  <PresentationFormat>Custom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Office Theme</vt:lpstr>
      <vt:lpstr>TIDE Manuscript Figures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Barathula Venkata Sreeram Sarma</dc:creator>
  <cp:lastModifiedBy>Barathula Venkata Sreeram Sarma</cp:lastModifiedBy>
  <cp:revision>2</cp:revision>
  <dcterms:created xsi:type="dcterms:W3CDTF">2026-09-03T08:40:08Z</dcterms:created>
  <dcterms:modified xsi:type="dcterms:W3CDTF">2026-09-07T02:12:45Z</dcterms:modified>
</cp:coreProperties>
</file>